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o convite e a fala anterior. Marcar a divisao de papeis: marco legal e desenho ja foram apresentados; esta fala e o diagnostico.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a pergunta e esperar. Pausa de dois segundos antes de virar.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falta dado no setor. Falta convergencia.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Inventario das fontes. Creditar o que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generoso com a Pemob: entregou o que uma pesquisa pode entregar.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limites que decorrem da natureza do instrumento, nao da execucao da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Nucleo da fala. Enunciar os cinco limites e avisar que vai se deter em 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faixa da esquerda para a direita. O denominador certo nao e 5.570, e 2.962.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Adesao voluntaria. Uma variacao entre edicoes pode ser mudanca na realidade ou apenas em quem respondeu.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escada de cima para baixo. Marcar com a voz o primeiro degrau: um onibus, um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que conecta o diagnostico a exigencia normativa apresentada na fala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limitacao e tecnica, a consequencia e orcamentaria.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campos a direita nao trazem a resposta, trazem o motivo pelo qual a resposta nao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Antecipar a objecao: por que nao apenas melhorar a Pemob?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Responder a objecao linha a linha. Fechar com: o limite nao e de escala, e de instrumento.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requisitos, na mesma ordem dos cinco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Nomear o instrumento sem anunciar etapas, prazos ou contratacao.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Precedentes. DATASUS e Censo Escolar.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Dizer a frase, pausar, agradecer.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· DADOS DO TRANSPORTE PÚBLICO COLETIVO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 flipH="1">
            <a:off x="8915400" y="917448"/>
            <a:ext cx="1645920" cy="358140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61320" y="917448"/>
            <a:ext cx="822960" cy="121767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1275588"/>
            <a:ext cx="1005840" cy="114604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921240" y="2135124"/>
            <a:ext cx="1463040" cy="28651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8686800" y="2421636"/>
            <a:ext cx="1234440" cy="42976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2421636"/>
            <a:ext cx="914400" cy="121767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0835640" y="2135124"/>
            <a:ext cx="548640" cy="150418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561320" y="3639312"/>
            <a:ext cx="274320" cy="136093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9509760" y="2421636"/>
            <a:ext cx="411480" cy="171907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8823960" y="4140708"/>
            <a:ext cx="685800" cy="716280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0" y="4140708"/>
            <a:ext cx="1051560" cy="85953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0104120" y="5000244"/>
            <a:ext cx="457200" cy="100279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23960" y="4856988"/>
            <a:ext cx="1280160" cy="114604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42248" y="120243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11128" y="2061972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13648" y="2778252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62488" y="3566160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2" name="Shape 20"/>
          <p:cNvSpPr/>
          <p:nvPr/>
        </p:nvSpPr>
        <p:spPr>
          <a:xfrm>
            <a:off x="9436608" y="406755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3" name="Shape 21"/>
          <p:cNvSpPr/>
          <p:nvPr/>
        </p:nvSpPr>
        <p:spPr>
          <a:xfrm>
            <a:off x="8750808" y="478383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30968" y="5929884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66222" y="822350"/>
            <a:ext cx="190195" cy="190195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804197" y="2304593"/>
            <a:ext cx="234086" cy="234086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66222" y="4905146"/>
            <a:ext cx="190195" cy="190195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1600200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transporte público coletivo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85800" y="306324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temos, o que falta e por que necessitamos de uma plataforma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685800" y="4617720"/>
            <a:ext cx="640080" cy="5486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892040"/>
            <a:ext cx="7574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Coordenação-Geral de Desenvolvimento Institucional · DEREG/SEMOB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230368"/>
            <a:ext cx="7574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Nacional de Mobilidade Urbana · Ministério das Cidades · Julho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11335" y="6291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80068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passageiros o transporte público coletivo brasileiro transportou no ano passado?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85800" y="4224528"/>
            <a:ext cx="502920" cy="5486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480560"/>
            <a:ext cx="757406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uma estimativa. Não temos a contagem.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TPC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62695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0C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84396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6275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setor não está no escuro. Existe dado, e existe dado bom. O que não existe é convergência entre o que já se produz.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ausência de dado.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79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fragmentação. Cada base tem seu recorte, sua metodologia, sua periodicidade e seu dono, e não há chave comum entre elas.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LEVANTAMENTOS ESTRUTURADOS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990088"/>
            <a:ext cx="50442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Pemob, Pesquisa Nacional de Mobilidade Urbana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Simob, da ANTP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Levantamentos setoriais da NTU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IBGE, Munic e Censo Demográfico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do Ipea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61608" y="2606040"/>
            <a:ext cx="504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JÁ É GERADO TODO DIA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61608" y="2990088"/>
            <a:ext cx="50442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Bilhetagem eletrônica, validações por linha e por horário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 AVL embarcados, posição da frota em operação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Centrais de controle operacional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GTFS, onde a cidade já publica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61608" y="4480560"/>
            <a:ext cx="504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dado existe. Ele simplesmente não circula.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13" name="Text 11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muitos retratos parciais e nenhum retrato nacional confiável.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Pemob 2025, SEMOB/MCID.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Pemob é o que temos de mais sistemático.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79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levantamento federal continuado sobre o setor, realizado no nível municipal desde 2018 e no metropolitano desde 2019.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HISTÓRICA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C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85800" y="4041648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levantamento municipal. A partir de 2019, também metropolitano, junto a governos estaduais e órgãos gestores.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898" y="27432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DO UNIVERSO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44898" y="30632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mil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444898" y="4041648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municípios acima desse porte compõem o universo de respondentes.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03997" y="27432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03997" y="3063240"/>
            <a:ext cx="33018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82/122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203997" y="4041648"/>
            <a:ext cx="33018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voluntária. O conjunto de respondentes muda a cada edição.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17" name="Text 15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entregou o que uma pesquisa declaratória pode entregar. E é esse o ponto: chegamos ao limite do instrumento.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TPC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62695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0C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48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84396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6275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E7B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limites que não decorrem da execução da pesquisa, e sim da natureza do instrumento.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limites do instrumento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438912" cy="438912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99032" y="1901952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restrito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9032" y="2203704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municípios acima de 250 mil habitantes, 122 ao todo, cerca de 4% dos 2.962 municípios atendidos por transporte coletivo no país.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42616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852928"/>
            <a:ext cx="438912" cy="438912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99032" y="27614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voluntária e cobertura instável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99032" y="3063240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conjunto de respondentes muda a cada edição, a série histórica não é rigorosamente comparável consigo mesma.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02152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12464"/>
            <a:ext cx="438912" cy="438912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99032" y="3621024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declaratória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99032" y="3922776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autodeclarada, sem rastreabilidade até a fonte primária e sem validação automática.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61688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99032" y="448056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e tempestividade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99032" y="478231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anuais publicados com defasagem. Não descem à linha, à viagem, à parada ou à faixa horária.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221224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5431536"/>
            <a:ext cx="438912" cy="438912"/>
          </a:xfrm>
          <a:prstGeom prst="ellipse">
            <a:avLst/>
          </a:prstGeom>
          <a:solidFill>
            <a:srgbClr val="BC4749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99032" y="5340096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responder sem retorno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99032" y="5641848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município gasta esforço técnico para preencher e não recebe nada de volta que melhore a gestão dele.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Anuário NTU 2024-2025, a partir da Munic/IBGE 2020 e do Censo Demográfico 2022 · Pemob 2025, SEMOB/MCID.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universo consultado é menor do que parece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43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5.570 municípios brasileiros, em uma única linha. A comparação que importa não é com o país inteiro, é com o conjunto que já opera transporte coletivo.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5.570 municípios brasileiros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798064"/>
            <a:ext cx="10820095" cy="20117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798064"/>
            <a:ext cx="20117" cy="137160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11485778" y="2798064"/>
            <a:ext cx="20117" cy="137160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11" name="Text 9"/>
          <p:cNvSpPr/>
          <p:nvPr/>
        </p:nvSpPr>
        <p:spPr>
          <a:xfrm>
            <a:off x="5751985" y="3054096"/>
            <a:ext cx="5753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2.962 municípios atendidos por transporte coletivo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51985" y="3346704"/>
            <a:ext cx="5753802" cy="20117"/>
          </a:xfrm>
          <a:prstGeom prst="rect">
            <a:avLst/>
          </a:prstGeom>
          <a:solidFill>
            <a:srgbClr val="5E5E66"/>
          </a:solidFill>
          <a:ln/>
        </p:spPr>
      </p:sp>
      <p:sp>
        <p:nvSpPr>
          <p:cNvPr id="13" name="Shape 11"/>
          <p:cNvSpPr/>
          <p:nvPr/>
        </p:nvSpPr>
        <p:spPr>
          <a:xfrm>
            <a:off x="5751985" y="3346704"/>
            <a:ext cx="20117" cy="137160"/>
          </a:xfrm>
          <a:prstGeom prst="rect">
            <a:avLst/>
          </a:prstGeom>
          <a:solidFill>
            <a:srgbClr val="5E5E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85670" y="3346704"/>
            <a:ext cx="20117" cy="137160"/>
          </a:xfrm>
          <a:prstGeom prst="rect">
            <a:avLst/>
          </a:prstGeom>
          <a:solidFill>
            <a:srgbClr val="5E5E66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639312"/>
            <a:ext cx="5066185" cy="603504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39312"/>
            <a:ext cx="506618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2.608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751985" y="3639312"/>
            <a:ext cx="5516842" cy="60350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18" name="Text 16"/>
          <p:cNvSpPr/>
          <p:nvPr/>
        </p:nvSpPr>
        <p:spPr>
          <a:xfrm>
            <a:off x="5751985" y="3639312"/>
            <a:ext cx="5516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2.840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268827" y="3639312"/>
            <a:ext cx="236960" cy="60350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87307" y="4242816"/>
            <a:ext cx="20117" cy="219456"/>
          </a:xfrm>
          <a:prstGeom prst="rect">
            <a:avLst/>
          </a:prstGeom>
          <a:solidFill>
            <a:srgbClr val="B386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99655" y="4480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consultados pela Pemob, 2,2% do país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864608"/>
            <a:ext cx="146304" cy="146304"/>
          </a:xfrm>
          <a:prstGeom prst="rect">
            <a:avLst/>
          </a:prstGeom>
          <a:solidFill>
            <a:srgbClr val="DCE2EE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" y="4791456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atendimento por transporte coletivo. Quase metade do país.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2498" y="4864608"/>
            <a:ext cx="146304" cy="146304"/>
          </a:xfrm>
          <a:prstGeom prst="rect">
            <a:avLst/>
          </a:prstGeom>
          <a:solidFill>
            <a:srgbClr val="BC4749"/>
          </a:solidFill>
          <a:ln/>
        </p:spPr>
      </p:sp>
      <p:sp>
        <p:nvSpPr>
          <p:cNvPr id="25" name="Text 23"/>
          <p:cNvSpPr/>
          <p:nvPr/>
        </p:nvSpPr>
        <p:spPr>
          <a:xfrm>
            <a:off x="4548530" y="4791456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Atendidos, porém fora do universo consultado.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99197" y="4864608"/>
            <a:ext cx="146304" cy="14630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7" name="Text 25"/>
          <p:cNvSpPr/>
          <p:nvPr/>
        </p:nvSpPr>
        <p:spPr>
          <a:xfrm>
            <a:off x="8155229" y="4791456"/>
            <a:ext cx="31494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universo da Pemob.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9" name="Text 27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levantamento federal alcança cerca de 4% dos municípios atendidos por transporte coletivo por ônibus.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Pemob 2025, SEMOB/MCID.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universo, a cobertura ainda é parcial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4396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é voluntária. Uma variação entre duas edições pode significar mudança na realidade ou apenas mudança em quem respondeu.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615184"/>
            <a:ext cx="146304" cy="14630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42032"/>
            <a:ext cx="10454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Ampliação da fatia consultada: os 122 municípios elegíveis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962656"/>
            <a:ext cx="10820095" cy="20117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962656"/>
            <a:ext cx="20117" cy="137160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11485778" y="2962656"/>
            <a:ext cx="20117" cy="137160"/>
          </a:xfrm>
          <a:prstGeom prst="rect">
            <a:avLst/>
          </a:prstGeom>
          <a:solidFill>
            <a:srgbClr val="14233F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255264"/>
            <a:ext cx="7272186" cy="60350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55264"/>
            <a:ext cx="727218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pPr algn="ctr" indent="0" marL="0">
              <a:buNone/>
            </a:pPr>
            <a:r>
              <a:rPr lang="en-US" sz="14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responderam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957986" y="3255264"/>
            <a:ext cx="3547909" cy="603504"/>
          </a:xfrm>
          <a:prstGeom prst="rect">
            <a:avLst/>
          </a:prstGeom>
          <a:solidFill>
            <a:srgbClr val="F4E7B4"/>
          </a:solidFill>
          <a:ln/>
        </p:spPr>
      </p:sp>
      <p:sp>
        <p:nvSpPr>
          <p:cNvPr id="15" name="Text 13"/>
          <p:cNvSpPr/>
          <p:nvPr/>
        </p:nvSpPr>
        <p:spPr>
          <a:xfrm>
            <a:off x="7957986" y="3255264"/>
            <a:ext cx="354790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pPr algn="ctr" indent="0" marL="0">
              <a:buNone/>
            </a:pPr>
            <a:r>
              <a:rPr lang="en-US" sz="14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não responderam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5800" y="4315968"/>
            <a:ext cx="10820095" cy="10973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988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pPr indent="0" marL="0">
              <a:buNone/>
            </a:pPr>
            <a:r>
              <a:rPr lang="en-US" sz="13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governos estaduais prestaram informações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0600" y="44988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pPr indent="0" marL="0">
              <a:buNone/>
            </a:pPr>
            <a:r>
              <a:rPr lang="en-US" sz="13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regiões metropolitanas cobertas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66760" y="4498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levantamento metropolitano tem universo próprio, distinto do municipal.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1" name="Text 19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que muda de ano para ano compromete a comparabilidade da própria série histórica.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Estimativa: frota nacional de 107 mil veículos (Anuário NTU 2024-2025), um registro a cada 30 segundos, 18 horas de operação por dia.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pesquisa alcança esse volume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75740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distância entre o que a pesquisa coleta e o que a operação já gera não é de esforço. É de escala.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4323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0" y="2432304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formulários, é o que a Pemob coleta em um ano inteiro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2999232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12724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POSIÇÃO GERADOS PELA PRÓPRIA OPERAÇÃO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493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0" y="3493008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único ônibus, em um único dia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1513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milhões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114800" y="4151376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frota nacional, em um único dia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718304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8280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bilhões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114800" y="4828032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frota nacional, ao longo de um ano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volume é só metade do problema. Um número digitado uma vez por ano não pode ser auditado, reprocessado nem corrigido. Um registro pode.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FALTA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não é registro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115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instrumentos de naturezas distintas, e a diferença aparece exatamente quando o dado precisa sustentar uma decisão financeira.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5181448" cy="2514600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788920"/>
            <a:ext cx="459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3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ATUAL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78408" y="306324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declaratória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78408" y="3566160"/>
            <a:ext cx="459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Preenchimento manual em formulário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rastreabilidade até a fonte primária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Periodicidade anual, com defasagem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 municipal, sem desagregação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2606040"/>
            <a:ext cx="5181448" cy="2514600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6617056" y="2788920"/>
            <a:ext cx="459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3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DECISÃO EXIGE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17056" y="3063240"/>
            <a:ext cx="459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administrativo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17056" y="3566160"/>
            <a:ext cx="45962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automatizada no sistema de origem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verificável, com validação automática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contínuo, próximo do tempo real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por linha, viagem e horário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16" name="Text 14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que embasa decisão financeira precisa ser auditável. Essa é a fronteira que separa os dois instrumentos.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TPC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62695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0C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84396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lacuna custa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6275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E6C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 é técnica. A consequência é orçamentária.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LACUNA CUSTA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perguntas que hoje não têm resposta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8115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elas precedem uma decisão de gasto público. Nenhuma delas pode ser respondida com o instrumento que temos.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pPr indent="0" marL="0">
              <a:buNone/>
            </a:pPr>
            <a:r>
              <a:rPr lang="en-US" sz="17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custa, hoje, transportar um passageiro?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65415" y="2615184"/>
            <a:ext cx="3840480" cy="475488"/>
          </a:xfrm>
          <a:prstGeom prst="rect">
            <a:avLst/>
          </a:prstGeom>
          <a:solidFill>
            <a:srgbClr val="FBF1D4"/>
          </a:solidFill>
          <a:ln w="15875">
            <a:solidFill>
              <a:srgbClr val="C79E2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665415" y="26151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ESTIMATIVA DECLARATÓRIA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91840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7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áreas da cidade têm menos acesso ao serviço?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65415" y="3328416"/>
            <a:ext cx="3840480" cy="475488"/>
          </a:xfrm>
          <a:prstGeom prst="rect">
            <a:avLst/>
          </a:prstGeom>
          <a:solidFill>
            <a:srgbClr val="FBF1D4"/>
          </a:solidFill>
          <a:ln w="15875">
            <a:solidFill>
              <a:srgbClr val="C79E2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665415" y="33284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TOTAIS POR MUNICÍPIO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913632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05072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7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 onde já houve investimento?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65415" y="4041648"/>
            <a:ext cx="3840480" cy="475488"/>
          </a:xfrm>
          <a:prstGeom prst="rect">
            <a:avLst/>
          </a:prstGeom>
          <a:solidFill>
            <a:srgbClr val="FBF1D4"/>
          </a:solidFill>
          <a:ln w="15875">
            <a:solidFill>
              <a:srgbClr val="C79E24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665415" y="40416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LINHA DE BASE COMPARÁVEL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" y="4626864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718304"/>
            <a:ext cx="6705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7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veio cada número que sustenta a decisão?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65415" y="4754880"/>
            <a:ext cx="3840480" cy="475488"/>
          </a:xfrm>
          <a:prstGeom prst="rect">
            <a:avLst/>
          </a:prstGeom>
          <a:solidFill>
            <a:srgbClr val="FBF1D4"/>
          </a:solidFill>
          <a:ln w="15875">
            <a:solidFill>
              <a:srgbClr val="C79E24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665415" y="475488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7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ORIGEM VERIFICÁVEL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23" name="Text 21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problema de estatística. É um problema de capacidade de decidir.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TPC · DIAGNÓSTICO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762695" y="10972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0C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4C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84396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necessário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6275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9BD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pesquisa resolveria o primeiro limite. Não resolveria os outros quatro.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NECESSÁRIO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basta uma pesquisa maior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54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APENAS AMPLIARMOS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28651" y="1828800"/>
            <a:ext cx="4977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CONTINUA IGUAL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31136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04288"/>
            <a:ext cx="454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pPr indent="0" marL="0">
              <a:buNone/>
            </a:pPr>
            <a:r>
              <a:rPr lang="en-US" sz="130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municípios no universo consultado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75960" y="230428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528651" y="2322576"/>
            <a:ext cx="4977244" cy="51206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6729819" y="2322576"/>
            <a:ext cx="45749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 primeiro limite, e apenas ele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07792"/>
            <a:ext cx="454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30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respondentes, com campanha de adesão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5960" y="29077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28651" y="2926080"/>
            <a:ext cx="4977244" cy="51206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6729819" y="2926080"/>
            <a:ext cx="45749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segue autodeclarado, sem rastreabilidade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438144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511296"/>
            <a:ext cx="454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30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 mais detalhado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75960" y="35112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28651" y="3529584"/>
            <a:ext cx="4977244" cy="51206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819" y="3529584"/>
            <a:ext cx="45749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campos, mesmo nível de agregação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041648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114800"/>
            <a:ext cx="454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30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periodicidade anual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7596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528651" y="4133088"/>
            <a:ext cx="4977244" cy="51206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27" name="Text 25"/>
          <p:cNvSpPr/>
          <p:nvPr/>
        </p:nvSpPr>
        <p:spPr>
          <a:xfrm>
            <a:off x="6729819" y="4133088"/>
            <a:ext cx="45749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sendo retrato, e não monitoramento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4645152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18304"/>
            <a:ext cx="454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300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perguntas ao gestor municipal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75960" y="471830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68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528651" y="4736592"/>
            <a:ext cx="4977244" cy="512064"/>
          </a:xfrm>
          <a:prstGeom prst="rect">
            <a:avLst/>
          </a:prstGeom>
          <a:solidFill>
            <a:srgbClr val="EDF2FB"/>
          </a:solidFill>
          <a:ln/>
        </p:spPr>
      </p:sp>
      <p:sp>
        <p:nvSpPr>
          <p:cNvPr id="32" name="Text 30"/>
          <p:cNvSpPr/>
          <p:nvPr/>
        </p:nvSpPr>
        <p:spPr>
          <a:xfrm>
            <a:off x="6729819" y="4736592"/>
            <a:ext cx="45749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o custo de responder, sem retorno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168821"/>
          </a:solidFill>
          <a:ln/>
        </p:spPr>
      </p:sp>
      <p:sp>
        <p:nvSpPr>
          <p:cNvPr id="34" name="Text 32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não é de escala. É de instrumento.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NECESSÁRIO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84396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requisitos, um para cada limite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993392"/>
            <a:ext cx="438912" cy="438912"/>
          </a:xfrm>
          <a:prstGeom prst="ellipse">
            <a:avLst/>
          </a:prstGeom>
          <a:solidFill>
            <a:srgbClr val="16882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933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99032" y="1901952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na origem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99032" y="2203704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o dado dos sistemas que já o produzem, bilhetagem e localização automática de veículos, em vez de pedir que alguém o digite.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42616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852928"/>
            <a:ext cx="438912" cy="438912"/>
          </a:xfrm>
          <a:prstGeom prst="ellipse">
            <a:avLst/>
          </a:prstGeom>
          <a:solidFill>
            <a:srgbClr val="16882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99032" y="27614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contínuo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99032" y="3063240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retrato anual por monitoramento, condição para calibrar subsídio, tarifa e política de gratuidade.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502152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3712464"/>
            <a:ext cx="438912" cy="438912"/>
          </a:xfrm>
          <a:prstGeom prst="ellipse">
            <a:avLst/>
          </a:prstGeom>
          <a:solidFill>
            <a:srgbClr val="16882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99032" y="3621024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99032" y="3922776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à linha, à viagem, ao horário e ao território, sem o que não existe avaliação de qualidade nem de equidade.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61688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572000"/>
            <a:ext cx="438912" cy="438912"/>
          </a:xfrm>
          <a:prstGeom prst="ellipse">
            <a:avLst/>
          </a:prstGeom>
          <a:solidFill>
            <a:srgbClr val="16882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72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99032" y="4480560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Interoperabilidade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99032" y="4782312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comum que converse com as demais bases da administração pública, em vez de produzir mais um arquivo isolado.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221224"/>
            <a:ext cx="10820095" cy="7315"/>
          </a:xfrm>
          <a:prstGeom prst="rect">
            <a:avLst/>
          </a:prstGeom>
          <a:solidFill>
            <a:srgbClr val="DDE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5431536"/>
            <a:ext cx="438912" cy="438912"/>
          </a:xfrm>
          <a:prstGeom prst="ellipse">
            <a:avLst/>
          </a:prstGeom>
          <a:solidFill>
            <a:srgbClr val="16882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99032" y="5340096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Contrapartida ao ente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99032" y="5641848"/>
            <a:ext cx="99971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compartilha dado recebe de volta análise e capacidade de gestão. É isso que sustenta a adesão ao longo do tempo.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C4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100" b="1" spc="200" kern="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NECESSÁRIO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135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6291072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86560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INSTRUMENTO QUE REÚNE OS CINCO REQUISITOS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86560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pesquisa.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F5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nacional de dados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4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1412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E5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no sentido técnico do termo. É esse o instrumento que está sendo proposto.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6291072"/>
            <a:ext cx="8625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DEREG/SEMOB · Ministério das Cidades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311335" y="6291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80068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política pública chegou longe sem a sua base de dados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contínuo que tornou possível distribuir recurso por critério objetivo e avaliar resultado.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44898" y="25146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4898" y="2834640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44898" y="3520440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obrigatória e anual que virou base do financiamento e da avaliação da política educacional.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03997" y="2514600"/>
            <a:ext cx="33018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MOBILIDADE URBANA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03997" y="2834640"/>
            <a:ext cx="33018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não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03997" y="3520440"/>
            <a:ext cx="33018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grande política urbana brasileira que ainda não dispõe de sistema nacional de informação equivalente.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687568"/>
            <a:ext cx="274320" cy="45720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18" name="Text 16"/>
          <p:cNvSpPr/>
          <p:nvPr/>
        </p:nvSpPr>
        <p:spPr>
          <a:xfrm>
            <a:off x="1124712" y="5559552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mobilidade urbana é a grande política urbana brasileira que ainda não tem a sua.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D41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10896"/>
            <a:ext cx="6492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· DADOS DO TRANSPORTE PÚBLICO COLETIVO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299655" y="310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</a:t>
            </a:r>
            <a:pPr algn="r" indent="0" marL="0">
              <a:buNone/>
            </a:pPr>
            <a:r>
              <a:rPr lang="en-US" sz="1150" b="1" dirty="0">
                <a:solidFill>
                  <a:srgbClr val="FFC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.br</a:t>
            </a:r>
            <a:pPr algn="r" indent="0" marL="0">
              <a:buNone/>
            </a:pPr>
            <a:r>
              <a:rPr lang="en-US" sz="115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Ministério das Cidades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281160" y="917448"/>
            <a:ext cx="1645920" cy="358140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8458200" y="917448"/>
            <a:ext cx="822960" cy="121767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921240" y="1275588"/>
            <a:ext cx="1005840" cy="114604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2135124"/>
            <a:ext cx="1463040" cy="28651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2421636"/>
            <a:ext cx="1234440" cy="42976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006840" y="2421636"/>
            <a:ext cx="914400" cy="121767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2135124"/>
            <a:ext cx="548640" cy="150418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06840" y="3639312"/>
            <a:ext cx="274320" cy="136093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21240" y="2421636"/>
            <a:ext cx="411480" cy="171907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4140708"/>
            <a:ext cx="685800" cy="716280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281160" y="4140708"/>
            <a:ext cx="1051560" cy="859536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81160" y="5000244"/>
            <a:ext cx="457200" cy="1002792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>
            <a:off x="9738360" y="4856988"/>
            <a:ext cx="1280160" cy="1146048"/>
          </a:xfrm>
          <a:prstGeom prst="line">
            <a:avLst/>
          </a:prstGeom>
          <a:noFill/>
          <a:ln w="15875">
            <a:solidFill>
              <a:srgbClr val="2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853928" y="120243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5048" y="2061972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82528" y="2778252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1" name="Shape 19"/>
          <p:cNvSpPr/>
          <p:nvPr/>
        </p:nvSpPr>
        <p:spPr>
          <a:xfrm>
            <a:off x="8933688" y="3566160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59568" y="406755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45368" y="4783836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4" name="Shape 22"/>
          <p:cNvSpPr/>
          <p:nvPr/>
        </p:nvSpPr>
        <p:spPr>
          <a:xfrm>
            <a:off x="9665208" y="5929884"/>
            <a:ext cx="146304" cy="146304"/>
          </a:xfrm>
          <a:prstGeom prst="ellipse">
            <a:avLst/>
          </a:prstGeom>
          <a:solidFill>
            <a:srgbClr val="42639B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6062" y="822350"/>
            <a:ext cx="190195" cy="190195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6" name="Shape 24"/>
          <p:cNvSpPr/>
          <p:nvPr/>
        </p:nvSpPr>
        <p:spPr>
          <a:xfrm>
            <a:off x="9804197" y="2304593"/>
            <a:ext cx="234086" cy="234086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86062" y="4905146"/>
            <a:ext cx="190195" cy="190195"/>
          </a:xfrm>
          <a:prstGeom prst="ellipse">
            <a:avLst/>
          </a:prstGeom>
          <a:solidFill>
            <a:srgbClr val="8C752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16916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i="1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não é burocracia.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i="1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condição para decidir.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5800" y="3246120"/>
            <a:ext cx="86560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obrigado.</a:t>
            </a:r>
            <a:endParaRPr lang="en-US" sz="5400" dirty="0"/>
          </a:p>
        </p:txBody>
      </p:sp>
      <p:sp>
        <p:nvSpPr>
          <p:cNvPr id="30" name="Shape 28"/>
          <p:cNvSpPr/>
          <p:nvPr/>
        </p:nvSpPr>
        <p:spPr>
          <a:xfrm>
            <a:off x="685800" y="4526280"/>
            <a:ext cx="640080" cy="54864"/>
          </a:xfrm>
          <a:prstGeom prst="rect">
            <a:avLst/>
          </a:prstGeom>
          <a:solidFill>
            <a:srgbClr val="FFCD07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800600"/>
            <a:ext cx="75740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Ramson Aragão Gois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5800" y="5138928"/>
            <a:ext cx="86560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Coordenação-Geral de Desenvolvimento Institucional · DEREG/SEMOB · ramson.gois@cidades.gov.br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Dados do transporte publico coletivo</dc:title>
  <dc:subject>PptxGenJS Presentation</dc:subject>
  <dc:creator>DEREG/SEMOB - Ministerio das Cidades</dc:creator>
  <cp:lastModifiedBy>DEREG/SEMOB - Ministerio das Cidades</cp:lastModifiedBy>
  <cp:revision>1</cp:revision>
  <dcterms:created xsi:type="dcterms:W3CDTF">2026-07-28T02:16:16Z</dcterms:created>
  <dcterms:modified xsi:type="dcterms:W3CDTF">2026-07-28T02:16:17Z</dcterms:modified>
</cp:coreProperties>
</file>